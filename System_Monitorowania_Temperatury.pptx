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przesunąć slajd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6F96D6-11A6-4D4D-A609-1277638819BA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3A0CC2-A81D-4218-8B0C-50404BC063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68A4AB-BD68-4D70-A38E-B1E6E8B3D2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7D3416-4768-4D22-9D2E-DA2C2EFA6F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84E606-029A-443C-8F94-FBB9D4AC54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8D209D-3C72-4683-A2C1-0195162BD5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9F907C-F950-401A-BA6D-967CA5E9A4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D0E52D-D792-48F0-8069-3E5FA196F5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CCB5AD-6FBA-40A8-969E-6D99593DA9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1655CA-0939-4F7E-8DDF-FA70B3AAF8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D25FAA-6026-4A27-A762-88DE4D04C2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4D8130-038C-41AE-B6E3-AC8396DC7A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3BBCBD-8619-4A7A-B465-FB5036F490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E528E3-E141-482C-81CA-112A229BFF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tytułu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localhost:808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365760" y="228600"/>
            <a:ext cx="109440" cy="10944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85800" y="228600"/>
            <a:ext cx="109440" cy="10944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005840" y="228600"/>
            <a:ext cx="109440" cy="10944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325880" y="228600"/>
            <a:ext cx="109440" cy="10944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645920" y="228600"/>
            <a:ext cx="109440" cy="10944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1965960" y="228600"/>
            <a:ext cx="109440" cy="10944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640080" y="1097280"/>
            <a:ext cx="7863480" cy="2285640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822960" y="12344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MONITOROWANIA</a:t>
            </a:r>
            <a:endParaRPr lang="pl-PL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822960" y="187452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5BC8F5"/>
                </a:solidFill>
                <a:effectLst/>
                <a:uFillTx/>
                <a:latin typeface="Calibri"/>
                <a:ea typeface="Calibri"/>
              </a:rPr>
              <a:t>TEMPERATURY</a:t>
            </a:r>
            <a:endParaRPr lang="pl-PL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22960" y="265176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W ARCHITEKTURZE MIKROSERWISOWEJ</a:t>
            </a:r>
            <a:endParaRPr lang="pl-PL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1371600" y="3520440"/>
            <a:ext cx="6400440" cy="914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1463040" y="3566160"/>
            <a:ext cx="6217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Franciszek Dębski  ·  Patryk Wilk  ·  Krystian Zając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Małopolska Uczelnia Państwowa im. Rotmistrza Witolda Pileckiego w Oświęcimiu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274320" y="495612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Prowadzący: mgr inż. Artur Pelo  ·  Informatyka – studia inżynierskie  ·  2026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2925720" cy="5143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137160" y="1594440"/>
            <a:ext cx="26514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PREZENTACJI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3200400" y="502920"/>
            <a:ext cx="55774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3246120" y="58536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3246120" y="5853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3703320" y="61272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Cel i zakres projektu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3200400" y="1152000"/>
            <a:ext cx="5577480" cy="52992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3246120" y="123444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3246120" y="1234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3703320" y="126180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Architektura systemu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3200400" y="1801440"/>
            <a:ext cx="55774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3246120" y="188352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3246120" y="1883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3703320" y="191124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Stos technologiczny i sprzęt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3200400" y="2450520"/>
            <a:ext cx="5577480" cy="52992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3246120" y="253296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3246120" y="25329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3703320" y="256032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Opis działania i przepływ danych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3200400" y="3099960"/>
            <a:ext cx="55774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3246120" y="318204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32461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3703320" y="320940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Interfejsy użytkownika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3200400" y="3749040"/>
            <a:ext cx="5577480" cy="52992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3"/>
          <p:cNvSpPr/>
          <p:nvPr/>
        </p:nvSpPr>
        <p:spPr>
          <a:xfrm>
            <a:off x="3246120" y="383148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3246120" y="38314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3703320" y="385884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Testy i wyniki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6"/>
          <p:cNvSpPr/>
          <p:nvPr/>
        </p:nvSpPr>
        <p:spPr>
          <a:xfrm>
            <a:off x="3200400" y="4398120"/>
            <a:ext cx="55774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7"/>
          <p:cNvSpPr/>
          <p:nvPr/>
        </p:nvSpPr>
        <p:spPr>
          <a:xfrm>
            <a:off x="3246120" y="448056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8"/>
          <p:cNvSpPr/>
          <p:nvPr/>
        </p:nvSpPr>
        <p:spPr>
          <a:xfrm>
            <a:off x="3246120" y="4480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9"/>
          <p:cNvSpPr/>
          <p:nvPr/>
        </p:nvSpPr>
        <p:spPr>
          <a:xfrm>
            <a:off x="3703320" y="450792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Podsumowanie i plany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45720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CEL I ZAKRES PROJEKTU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365760" y="1097280"/>
            <a:ext cx="8412120" cy="1051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502920" y="117036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Stworzenie kompletnego, systemu umożliwiającego zdalny odczyt, archiwizację i wizualizację danych z fizycznego czujnika temperatury.</a:t>
            </a:r>
            <a:endParaRPr lang="pl-P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365760" y="2286000"/>
            <a:ext cx="4205880" cy="6854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457200" y="245052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457200" y="2450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914400" y="237744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Programowanie mikrokontrolera ESP32 do obsługi czujnika DHT11 i transmisji Wi-Fi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365760" y="3108960"/>
            <a:ext cx="4205880" cy="68544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457200" y="327348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457200" y="32734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914400" y="320040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Implementacja serwera backendowego Spring Boot jako centralnego węzła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365760" y="3931920"/>
            <a:ext cx="4205880" cy="6854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457200" y="409644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457200" y="4096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5"/>
          <p:cNvSpPr/>
          <p:nvPr/>
        </p:nvSpPr>
        <p:spPr>
          <a:xfrm>
            <a:off x="914400" y="402336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Konfiguracja bazy danych MySQL w kontenerze Docker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4754880" y="2286000"/>
            <a:ext cx="4205880" cy="68544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7"/>
          <p:cNvSpPr/>
          <p:nvPr/>
        </p:nvSpPr>
        <p:spPr>
          <a:xfrm>
            <a:off x="4846320" y="245052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4846320" y="2450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9"/>
          <p:cNvSpPr/>
          <p:nvPr/>
        </p:nvSpPr>
        <p:spPr>
          <a:xfrm>
            <a:off x="5303520" y="237744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Natywna aplikacja mobilna Android z podglądem na żywo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0"/>
          <p:cNvSpPr/>
          <p:nvPr/>
        </p:nvSpPr>
        <p:spPr>
          <a:xfrm>
            <a:off x="4754880" y="3108960"/>
            <a:ext cx="4205880" cy="6854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1"/>
          <p:cNvSpPr/>
          <p:nvPr/>
        </p:nvSpPr>
        <p:spPr>
          <a:xfrm>
            <a:off x="4846320" y="327348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4846320" y="32734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3"/>
          <p:cNvSpPr/>
          <p:nvPr/>
        </p:nvSpPr>
        <p:spPr>
          <a:xfrm>
            <a:off x="5303520" y="320040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Responsywny interfejs webowy (HTML/CSS/JS) do przeglądania dziennika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4754880" y="3931920"/>
            <a:ext cx="4205880" cy="68544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5"/>
          <p:cNvSpPr/>
          <p:nvPr/>
        </p:nvSpPr>
        <p:spPr>
          <a:xfrm>
            <a:off x="4846320" y="4096440"/>
            <a:ext cx="347040" cy="347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6"/>
          <p:cNvSpPr/>
          <p:nvPr/>
        </p:nvSpPr>
        <p:spPr>
          <a:xfrm>
            <a:off x="4846320" y="4096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7"/>
          <p:cNvSpPr/>
          <p:nvPr/>
        </p:nvSpPr>
        <p:spPr>
          <a:xfrm>
            <a:off x="5303520" y="402336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Integracja wszystkich modułów przez HTTP i JSON (REST API)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45720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ARCHITEKTURA MIKROSERWISOWA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365760" y="1097280"/>
            <a:ext cx="2194200" cy="1188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45720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WARSTWA IoT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457200" y="16916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ESP32 + DHT11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3474720" y="1097280"/>
            <a:ext cx="2194200" cy="1188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356616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BRAMA SIECIOWA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3566160" y="16916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API Gateway / Message Broker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6583680" y="1097280"/>
            <a:ext cx="2194200" cy="1188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667512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WARSTWA KLIENTA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6675120" y="16916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Web + Android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2560320" y="1691640"/>
            <a:ext cx="914400" cy="36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2"/>
          <p:cNvSpPr/>
          <p:nvPr/>
        </p:nvSpPr>
        <p:spPr>
          <a:xfrm>
            <a:off x="5669280" y="1691640"/>
            <a:ext cx="914400" cy="36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2578680" y="1260000"/>
            <a:ext cx="87732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HTTP POST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5687640" y="1417320"/>
            <a:ext cx="87732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REST API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WebSocket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365760" y="2606040"/>
            <a:ext cx="8412120" cy="319680"/>
          </a:xfrm>
          <a:prstGeom prst="rect">
            <a:avLst/>
          </a:prstGeom>
          <a:solidFill>
            <a:srgbClr val="BCD8E8"/>
          </a:solidFill>
          <a:ln w="1270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457200" y="263340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MIKROSERWISY (Backend)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7"/>
          <p:cNvSpPr/>
          <p:nvPr/>
        </p:nvSpPr>
        <p:spPr>
          <a:xfrm>
            <a:off x="1097280" y="3017520"/>
            <a:ext cx="2102760" cy="7768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1143000" y="306324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 &amp;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Service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3749040" y="3017520"/>
            <a:ext cx="2102760" cy="776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3794760" y="306324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Telemetry &amp;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IoT Service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6400800" y="3017520"/>
            <a:ext cx="2102760" cy="776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6446520" y="306324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REST API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Endpoints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365760" y="3931920"/>
            <a:ext cx="8412120" cy="319680"/>
          </a:xfrm>
          <a:prstGeom prst="rect">
            <a:avLst/>
          </a:prstGeom>
          <a:solidFill>
            <a:srgbClr val="BCD8E8"/>
          </a:solidFill>
          <a:ln w="1270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4"/>
          <p:cNvSpPr/>
          <p:nvPr/>
        </p:nvSpPr>
        <p:spPr>
          <a:xfrm>
            <a:off x="457200" y="39592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WARSTWA DANYCH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5"/>
          <p:cNvSpPr/>
          <p:nvPr/>
        </p:nvSpPr>
        <p:spPr>
          <a:xfrm>
            <a:off x="1371600" y="4343400"/>
            <a:ext cx="2559960" cy="639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6"/>
          <p:cNvSpPr/>
          <p:nvPr/>
        </p:nvSpPr>
        <p:spPr>
          <a:xfrm>
            <a:off x="1463040" y="4370760"/>
            <a:ext cx="2377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MySQL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(Docker/XAMPP)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7"/>
          <p:cNvSpPr/>
          <p:nvPr/>
        </p:nvSpPr>
        <p:spPr>
          <a:xfrm>
            <a:off x="4572000" y="4343400"/>
            <a:ext cx="2559960" cy="6397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8"/>
          <p:cNvSpPr/>
          <p:nvPr/>
        </p:nvSpPr>
        <p:spPr>
          <a:xfrm>
            <a:off x="4663440" y="4370760"/>
            <a:ext cx="2377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Relacyjna baza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danych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5720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STOS TECHNOLOGICZNY I SPRZĘT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365760" y="10515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Technologie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365760" y="1463040"/>
            <a:ext cx="136800" cy="502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594360" y="148140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594360" y="170064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Java · Spring Boot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365760" y="2130480"/>
            <a:ext cx="136800" cy="502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594360" y="21488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Baza danych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594360" y="236844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MySQL (Docker / XAMPP)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365760" y="2797920"/>
            <a:ext cx="136800" cy="502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594360" y="28162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Aplikacja mobilna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594360" y="303588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Java · Android Studio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365760" y="3465720"/>
            <a:ext cx="136800" cy="502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594360" y="34837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Interfejs webowy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594360" y="370332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HTML · CSS · JavaScript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365760" y="4133160"/>
            <a:ext cx="136800" cy="5025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594360" y="41515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IoT (firmware)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594360" y="437076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C++ · Arduino IDE · ESP32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4937760" y="10515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Sprzęt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9"/>
          <p:cNvSpPr/>
          <p:nvPr/>
        </p:nvSpPr>
        <p:spPr>
          <a:xfrm>
            <a:off x="4937760" y="1463040"/>
            <a:ext cx="3840120" cy="54828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0"/>
          <p:cNvSpPr/>
          <p:nvPr/>
        </p:nvSpPr>
        <p:spPr>
          <a:xfrm>
            <a:off x="5074920" y="149976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Mikrokontroler ESP32 Wroom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5074920" y="173736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Wi-Fi + Bluetooth, programowalny w C++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2"/>
          <p:cNvSpPr/>
          <p:nvPr/>
        </p:nvSpPr>
        <p:spPr>
          <a:xfrm>
            <a:off x="4937760" y="2130480"/>
            <a:ext cx="3840120" cy="54828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5074920" y="216720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Czujnik temperatury DHT11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5074920" y="240480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Odczyt temperatury i wilgotności (GPIO15)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5"/>
          <p:cNvSpPr/>
          <p:nvPr/>
        </p:nvSpPr>
        <p:spPr>
          <a:xfrm>
            <a:off x="4937760" y="2797920"/>
            <a:ext cx="3840120" cy="54828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6"/>
          <p:cNvSpPr/>
          <p:nvPr/>
        </p:nvSpPr>
        <p:spPr>
          <a:xfrm>
            <a:off x="5074920" y="28346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Komputer stacjonarny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7"/>
          <p:cNvSpPr/>
          <p:nvPr/>
        </p:nvSpPr>
        <p:spPr>
          <a:xfrm>
            <a:off x="5074920" y="307224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Serwer lokalny – Spring Boot + Docker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8"/>
          <p:cNvSpPr/>
          <p:nvPr/>
        </p:nvSpPr>
        <p:spPr>
          <a:xfrm>
            <a:off x="4937760" y="3465720"/>
            <a:ext cx="3840120" cy="54828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9"/>
          <p:cNvSpPr/>
          <p:nvPr/>
        </p:nvSpPr>
        <p:spPr>
          <a:xfrm>
            <a:off x="5074920" y="350208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Smartfon Android 8.0+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0"/>
          <p:cNvSpPr/>
          <p:nvPr/>
        </p:nvSpPr>
        <p:spPr>
          <a:xfrm>
            <a:off x="5074920" y="374004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Klient mobilny – aplikacja natywna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1"/>
          <p:cNvSpPr/>
          <p:nvPr/>
        </p:nvSpPr>
        <p:spPr>
          <a:xfrm>
            <a:off x="4937760" y="4133160"/>
            <a:ext cx="3840120" cy="54828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2"/>
          <p:cNvSpPr/>
          <p:nvPr/>
        </p:nvSpPr>
        <p:spPr>
          <a:xfrm>
            <a:off x="5074920" y="416952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Płytka PCB (EasyEDA)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3"/>
          <p:cNvSpPr/>
          <p:nvPr/>
        </p:nvSpPr>
        <p:spPr>
          <a:xfrm>
            <a:off x="5074920" y="44074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Schemat i model 3D do produkcji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45720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PRZEPŁYW DANYCH W SYSTEMIE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868680" y="1097280"/>
            <a:ext cx="566640" cy="566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868680" y="10972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320040" y="1828800"/>
            <a:ext cx="1554120" cy="365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320040" y="18745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Odczyt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320040" y="2194560"/>
            <a:ext cx="155412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365760" y="224028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ESP32 odczytuje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temperaturę z DHT11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co 10 sekund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1920240" y="1380600"/>
            <a:ext cx="118800" cy="360"/>
          </a:xfrm>
          <a:prstGeom prst="line">
            <a:avLst/>
          </a:prstGeom>
          <a:ln w="19050">
            <a:solidFill>
              <a:srgbClr val="4A62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2587680" y="1097280"/>
            <a:ext cx="566640" cy="566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2587680" y="10972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2039040" y="1828800"/>
            <a:ext cx="1554120" cy="365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2039040" y="18745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Wysyłanie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2039040" y="2194560"/>
            <a:ext cx="155412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2084760" y="224028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Mikrokontroler formuje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paczkę JSON i wysyła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HTTP POST na serwer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5"/>
          <p:cNvSpPr/>
          <p:nvPr/>
        </p:nvSpPr>
        <p:spPr>
          <a:xfrm>
            <a:off x="3639240" y="1380600"/>
            <a:ext cx="118800" cy="360"/>
          </a:xfrm>
          <a:prstGeom prst="line">
            <a:avLst/>
          </a:prstGeom>
          <a:ln w="19050">
            <a:solidFill>
              <a:srgbClr val="4A62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6"/>
          <p:cNvSpPr/>
          <p:nvPr/>
        </p:nvSpPr>
        <p:spPr>
          <a:xfrm>
            <a:off x="4306680" y="1097280"/>
            <a:ext cx="566640" cy="566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4306680" y="10972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8"/>
          <p:cNvSpPr/>
          <p:nvPr/>
        </p:nvSpPr>
        <p:spPr>
          <a:xfrm>
            <a:off x="3758040" y="1828800"/>
            <a:ext cx="1554120" cy="365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3758040" y="18745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Przetwarzanie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0"/>
          <p:cNvSpPr/>
          <p:nvPr/>
        </p:nvSpPr>
        <p:spPr>
          <a:xfrm>
            <a:off x="3758040" y="2194560"/>
            <a:ext cx="155412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3803760" y="224028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Spring Boot dodaje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datę i godzinę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(ESP32 nie ma RTC)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2"/>
          <p:cNvSpPr/>
          <p:nvPr/>
        </p:nvSpPr>
        <p:spPr>
          <a:xfrm>
            <a:off x="5358240" y="1380600"/>
            <a:ext cx="118800" cy="360"/>
          </a:xfrm>
          <a:prstGeom prst="line">
            <a:avLst/>
          </a:prstGeom>
          <a:ln w="19050">
            <a:solidFill>
              <a:srgbClr val="4A62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3"/>
          <p:cNvSpPr/>
          <p:nvPr/>
        </p:nvSpPr>
        <p:spPr>
          <a:xfrm>
            <a:off x="6026040" y="1097280"/>
            <a:ext cx="566640" cy="566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6026040" y="10972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5"/>
          <p:cNvSpPr/>
          <p:nvPr/>
        </p:nvSpPr>
        <p:spPr>
          <a:xfrm>
            <a:off x="5477400" y="1828800"/>
            <a:ext cx="1554120" cy="365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6"/>
          <p:cNvSpPr/>
          <p:nvPr/>
        </p:nvSpPr>
        <p:spPr>
          <a:xfrm>
            <a:off x="5477400" y="18745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Zapis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7"/>
          <p:cNvSpPr/>
          <p:nvPr/>
        </p:nvSpPr>
        <p:spPr>
          <a:xfrm>
            <a:off x="5477400" y="2194560"/>
            <a:ext cx="155412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8"/>
          <p:cNvSpPr/>
          <p:nvPr/>
        </p:nvSpPr>
        <p:spPr>
          <a:xfrm>
            <a:off x="5523120" y="224028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Dane trafiają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do bazy MySQL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z pełnym znacznikiem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9"/>
          <p:cNvSpPr/>
          <p:nvPr/>
        </p:nvSpPr>
        <p:spPr>
          <a:xfrm>
            <a:off x="7077240" y="1380600"/>
            <a:ext cx="118800" cy="360"/>
          </a:xfrm>
          <a:prstGeom prst="line">
            <a:avLst/>
          </a:prstGeom>
          <a:ln w="19050">
            <a:solidFill>
              <a:srgbClr val="4A62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0"/>
          <p:cNvSpPr/>
          <p:nvPr/>
        </p:nvSpPr>
        <p:spPr>
          <a:xfrm>
            <a:off x="7745040" y="1097280"/>
            <a:ext cx="566640" cy="5666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1"/>
          <p:cNvSpPr/>
          <p:nvPr/>
        </p:nvSpPr>
        <p:spPr>
          <a:xfrm>
            <a:off x="7745040" y="10972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2"/>
          <p:cNvSpPr/>
          <p:nvPr/>
        </p:nvSpPr>
        <p:spPr>
          <a:xfrm>
            <a:off x="7196400" y="1828800"/>
            <a:ext cx="1554120" cy="365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3"/>
          <p:cNvSpPr/>
          <p:nvPr/>
        </p:nvSpPr>
        <p:spPr>
          <a:xfrm>
            <a:off x="7196400" y="18745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Wyświetlanie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4"/>
          <p:cNvSpPr/>
          <p:nvPr/>
        </p:nvSpPr>
        <p:spPr>
          <a:xfrm>
            <a:off x="7196400" y="2194560"/>
            <a:ext cx="155412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5"/>
          <p:cNvSpPr/>
          <p:nvPr/>
        </p:nvSpPr>
        <p:spPr>
          <a:xfrm>
            <a:off x="7242120" y="224028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Aplikacje odpytują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serwer co 10 sekund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i aktualizują widok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6"/>
          <p:cNvSpPr/>
          <p:nvPr/>
        </p:nvSpPr>
        <p:spPr>
          <a:xfrm>
            <a:off x="365760" y="3520440"/>
            <a:ext cx="8412120" cy="1416960"/>
          </a:xfrm>
          <a:prstGeom prst="rect">
            <a:avLst/>
          </a:prstGeom>
          <a:solidFill>
            <a:srgbClr val="1E2D3D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7"/>
          <p:cNvSpPr/>
          <p:nvPr/>
        </p:nvSpPr>
        <p:spPr>
          <a:xfrm>
            <a:off x="548640" y="356616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5BC8F5"/>
                </a:solidFill>
                <a:effectLst/>
                <a:uFillTx/>
                <a:latin typeface="Courier New"/>
                <a:ea typeface="Courier New"/>
              </a:rPr>
              <a:t>Kluczowy fragment – ESP32 wysyła dane (C++):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8"/>
          <p:cNvSpPr/>
          <p:nvPr/>
        </p:nvSpPr>
        <p:spPr>
          <a:xfrm>
            <a:off x="548640" y="378000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l-PL" sz="10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    http.begin("http://192.168.4.2:8080/api/pomiary/arduino");  </a:t>
            </a: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// Nawiązanie połączenia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    http.addHeader("Content-Type", "application/json");         </a:t>
            </a: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// Nagłówek JSON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    String httpRequestData = "{\"temperatura\":" + String(temp) + "}";  // Przygotowanie danych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    int httpResponseCode = http.POST(httpRequestData);         </a:t>
            </a: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00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// WYSLANIE DANYCH (POST) 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45720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WYMAGANIA SYSTEMU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365760" y="100584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Wymagania funkcjonalne (kluczowe)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365760" y="1371600"/>
            <a:ext cx="4205880" cy="4568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411480" y="14630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FR-001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1188720" y="14630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Serwer Spring Boot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3840480" y="1481400"/>
            <a:ext cx="685440" cy="23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3840480" y="1481400"/>
            <a:ext cx="685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Wysoki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8"/>
          <p:cNvSpPr/>
          <p:nvPr/>
        </p:nvSpPr>
        <p:spPr>
          <a:xfrm>
            <a:off x="365760" y="1883520"/>
            <a:ext cx="420588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411480" y="19749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FR-002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0"/>
          <p:cNvSpPr/>
          <p:nvPr/>
        </p:nvSpPr>
        <p:spPr>
          <a:xfrm>
            <a:off x="1188720" y="19749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Zapis do bazy MySQL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3840480" y="1993320"/>
            <a:ext cx="685440" cy="23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3840480" y="1993320"/>
            <a:ext cx="685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Wysoki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3"/>
          <p:cNvSpPr/>
          <p:nvPr/>
        </p:nvSpPr>
        <p:spPr>
          <a:xfrm>
            <a:off x="365760" y="2395800"/>
            <a:ext cx="4205880" cy="4568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4"/>
          <p:cNvSpPr/>
          <p:nvPr/>
        </p:nvSpPr>
        <p:spPr>
          <a:xfrm>
            <a:off x="411480" y="2487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FR-003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5"/>
          <p:cNvSpPr/>
          <p:nvPr/>
        </p:nvSpPr>
        <p:spPr>
          <a:xfrm>
            <a:off x="1188720" y="2487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UI webowy i mobilny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6"/>
          <p:cNvSpPr/>
          <p:nvPr/>
        </p:nvSpPr>
        <p:spPr>
          <a:xfrm>
            <a:off x="3840480" y="2505600"/>
            <a:ext cx="685440" cy="23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7"/>
          <p:cNvSpPr/>
          <p:nvPr/>
        </p:nvSpPr>
        <p:spPr>
          <a:xfrm>
            <a:off x="3840480" y="2505600"/>
            <a:ext cx="685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Wysoki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8"/>
          <p:cNvSpPr/>
          <p:nvPr/>
        </p:nvSpPr>
        <p:spPr>
          <a:xfrm>
            <a:off x="365760" y="2907720"/>
            <a:ext cx="420588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411480" y="29991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FR-004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0"/>
          <p:cNvSpPr/>
          <p:nvPr/>
        </p:nvSpPr>
        <p:spPr>
          <a:xfrm>
            <a:off x="1188720" y="29991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Dziennik pomiarów z datą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1"/>
          <p:cNvSpPr/>
          <p:nvPr/>
        </p:nvSpPr>
        <p:spPr>
          <a:xfrm>
            <a:off x="3840480" y="3017520"/>
            <a:ext cx="685440" cy="23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2"/>
          <p:cNvSpPr/>
          <p:nvPr/>
        </p:nvSpPr>
        <p:spPr>
          <a:xfrm>
            <a:off x="3840480" y="3017520"/>
            <a:ext cx="685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Wysoki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3"/>
          <p:cNvSpPr/>
          <p:nvPr/>
        </p:nvSpPr>
        <p:spPr>
          <a:xfrm>
            <a:off x="365760" y="3420000"/>
            <a:ext cx="4205880" cy="4568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4"/>
          <p:cNvSpPr/>
          <p:nvPr/>
        </p:nvSpPr>
        <p:spPr>
          <a:xfrm>
            <a:off x="411480" y="35114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FR-005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5"/>
          <p:cNvSpPr/>
          <p:nvPr/>
        </p:nvSpPr>
        <p:spPr>
          <a:xfrm>
            <a:off x="1188720" y="35114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Integracja IoT (REST API)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6"/>
          <p:cNvSpPr/>
          <p:nvPr/>
        </p:nvSpPr>
        <p:spPr>
          <a:xfrm>
            <a:off x="3840480" y="3529440"/>
            <a:ext cx="685440" cy="23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7"/>
          <p:cNvSpPr/>
          <p:nvPr/>
        </p:nvSpPr>
        <p:spPr>
          <a:xfrm>
            <a:off x="3840480" y="3529440"/>
            <a:ext cx="685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Wysoki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8"/>
          <p:cNvSpPr/>
          <p:nvPr/>
        </p:nvSpPr>
        <p:spPr>
          <a:xfrm>
            <a:off x="365760" y="3931920"/>
            <a:ext cx="4205880" cy="45684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9"/>
          <p:cNvSpPr/>
          <p:nvPr/>
        </p:nvSpPr>
        <p:spPr>
          <a:xfrm>
            <a:off x="411480" y="402336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FR-009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0"/>
          <p:cNvSpPr/>
          <p:nvPr/>
        </p:nvSpPr>
        <p:spPr>
          <a:xfrm>
            <a:off x="1188720" y="40233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Działająca aplikacja end-to-end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1"/>
          <p:cNvSpPr/>
          <p:nvPr/>
        </p:nvSpPr>
        <p:spPr>
          <a:xfrm>
            <a:off x="3840480" y="4041720"/>
            <a:ext cx="685440" cy="23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2"/>
          <p:cNvSpPr/>
          <p:nvPr/>
        </p:nvSpPr>
        <p:spPr>
          <a:xfrm>
            <a:off x="3840480" y="4041720"/>
            <a:ext cx="685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Wysoki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3"/>
          <p:cNvSpPr/>
          <p:nvPr/>
        </p:nvSpPr>
        <p:spPr>
          <a:xfrm>
            <a:off x="4937760" y="10058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Wymagania niefunkcjonalne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4"/>
          <p:cNvSpPr/>
          <p:nvPr/>
        </p:nvSpPr>
        <p:spPr>
          <a:xfrm>
            <a:off x="4937760" y="1371600"/>
            <a:ext cx="3840120" cy="5666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5"/>
          <p:cNvSpPr/>
          <p:nvPr/>
        </p:nvSpPr>
        <p:spPr>
          <a:xfrm>
            <a:off x="5029200" y="142632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NFR-001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6"/>
          <p:cNvSpPr/>
          <p:nvPr/>
        </p:nvSpPr>
        <p:spPr>
          <a:xfrm>
            <a:off x="5029200" y="164592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Czas odpowiedzi API &lt; 300 ms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7"/>
          <p:cNvSpPr/>
          <p:nvPr/>
        </p:nvSpPr>
        <p:spPr>
          <a:xfrm>
            <a:off x="4937760" y="2039040"/>
            <a:ext cx="3840120" cy="56664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8"/>
          <p:cNvSpPr/>
          <p:nvPr/>
        </p:nvSpPr>
        <p:spPr>
          <a:xfrm>
            <a:off x="5029200" y="209412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NFR-002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9"/>
          <p:cNvSpPr/>
          <p:nvPr/>
        </p:nvSpPr>
        <p:spPr>
          <a:xfrm>
            <a:off x="5029200" y="231336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Dostępność systemu &gt; 99%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0"/>
          <p:cNvSpPr/>
          <p:nvPr/>
        </p:nvSpPr>
        <p:spPr>
          <a:xfrm>
            <a:off x="4937760" y="2706480"/>
            <a:ext cx="3840120" cy="5666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1"/>
          <p:cNvSpPr/>
          <p:nvPr/>
        </p:nvSpPr>
        <p:spPr>
          <a:xfrm>
            <a:off x="5029200" y="276156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NFR-003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2"/>
          <p:cNvSpPr/>
          <p:nvPr/>
        </p:nvSpPr>
        <p:spPr>
          <a:xfrm>
            <a:off x="5029200" y="298080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Min. 1000 jednoczesnych użytkowników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3"/>
          <p:cNvSpPr/>
          <p:nvPr/>
        </p:nvSpPr>
        <p:spPr>
          <a:xfrm>
            <a:off x="4937760" y="3374280"/>
            <a:ext cx="3840120" cy="566640"/>
          </a:xfrm>
          <a:prstGeom prst="rect">
            <a:avLst/>
          </a:prstGeom>
          <a:solidFill>
            <a:srgbClr val="D8EEF7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4"/>
          <p:cNvSpPr/>
          <p:nvPr/>
        </p:nvSpPr>
        <p:spPr>
          <a:xfrm>
            <a:off x="5029200" y="342900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NFR-004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5"/>
          <p:cNvSpPr/>
          <p:nvPr/>
        </p:nvSpPr>
        <p:spPr>
          <a:xfrm>
            <a:off x="5029200" y="364860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Szyfrowanie SSL/TLS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6"/>
          <p:cNvSpPr/>
          <p:nvPr/>
        </p:nvSpPr>
        <p:spPr>
          <a:xfrm>
            <a:off x="4937760" y="4041720"/>
            <a:ext cx="3840120" cy="5666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47"/>
          <p:cNvSpPr/>
          <p:nvPr/>
        </p:nvSpPr>
        <p:spPr>
          <a:xfrm>
            <a:off x="5029200" y="409644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NFR-005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8"/>
          <p:cNvSpPr/>
          <p:nvPr/>
        </p:nvSpPr>
        <p:spPr>
          <a:xfrm>
            <a:off x="5029200" y="431604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Android 8.0+ / HTML5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5720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INTERFEJSY UŻYTKOWNIKA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"/>
          <p:cNvSpPr/>
          <p:nvPr/>
        </p:nvSpPr>
        <p:spPr>
          <a:xfrm>
            <a:off x="274320" y="1051560"/>
            <a:ext cx="411444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"/>
          <p:cNvSpPr/>
          <p:nvPr/>
        </p:nvSpPr>
        <p:spPr>
          <a:xfrm>
            <a:off x="274320" y="1051560"/>
            <a:ext cx="4114440" cy="456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365760" y="111564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🌐  Interfejs webowy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5"/>
          <p:cNvSpPr/>
          <p:nvPr/>
        </p:nvSpPr>
        <p:spPr>
          <a:xfrm>
            <a:off x="360000" y="31654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Funkcjonalności: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451440" y="343980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3C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Tabela z pełną historią pomiarów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451440" y="371412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3C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Auto-odświeżanie co 10 sekund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8"/>
          <p:cNvSpPr/>
          <p:nvPr/>
        </p:nvSpPr>
        <p:spPr>
          <a:xfrm>
            <a:off x="451440" y="398844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3C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Responsywny układ HTML/CSS/JS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451440" y="426276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3C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Szybka analiza danych archiwalnych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0"/>
          <p:cNvSpPr/>
          <p:nvPr/>
        </p:nvSpPr>
        <p:spPr>
          <a:xfrm>
            <a:off x="4754880" y="1051560"/>
            <a:ext cx="411444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1"/>
          <p:cNvSpPr/>
          <p:nvPr/>
        </p:nvSpPr>
        <p:spPr>
          <a:xfrm>
            <a:off x="4754880" y="1051560"/>
            <a:ext cx="4114440" cy="456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4846320" y="111564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📱  Aplikacja mobilna (Android)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"/>
          <p:cNvPicPr/>
          <p:nvPr/>
        </p:nvPicPr>
        <p:blipFill>
          <a:blip r:embed="rId1"/>
          <a:srcRect l="4891" t="7033" r="6401" b="52134"/>
          <a:stretch/>
        </p:blipFill>
        <p:spPr>
          <a:xfrm>
            <a:off x="5400000" y="1800000"/>
            <a:ext cx="2705400" cy="263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"/>
          <p:cNvPicPr/>
          <p:nvPr/>
        </p:nvPicPr>
        <p:blipFill>
          <a:blip r:embed="rId2"/>
          <a:stretch/>
        </p:blipFill>
        <p:spPr>
          <a:xfrm>
            <a:off x="360000" y="1620000"/>
            <a:ext cx="3884040" cy="12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45720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INSTALACJA I URUCHOMIENIE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320040" y="118872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320040" y="1188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"/>
          <p:cNvSpPr/>
          <p:nvPr/>
        </p:nvSpPr>
        <p:spPr>
          <a:xfrm>
            <a:off x="960120" y="1097280"/>
            <a:ext cx="7863480" cy="82260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1051560" y="11430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Uruchomienie serwera (Docker)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6"/>
          <p:cNvSpPr/>
          <p:nvPr/>
        </p:nvSpPr>
        <p:spPr>
          <a:xfrm>
            <a:off x="6217920" y="1143000"/>
            <a:ext cx="2468520" cy="2556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7"/>
          <p:cNvSpPr/>
          <p:nvPr/>
        </p:nvSpPr>
        <p:spPr>
          <a:xfrm>
            <a:off x="6263640" y="116136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docker-compose up --build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8"/>
          <p:cNvSpPr/>
          <p:nvPr/>
        </p:nvSpPr>
        <p:spPr>
          <a:xfrm>
            <a:off x="1051560" y="1463040"/>
            <a:ext cx="7680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Uruchom Docker Desktop, otworz folder container things, wpisz komende w terminalu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9"/>
          <p:cNvSpPr/>
          <p:nvPr/>
        </p:nvSpPr>
        <p:spPr>
          <a:xfrm>
            <a:off x="320040" y="214884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0"/>
          <p:cNvSpPr/>
          <p:nvPr/>
        </p:nvSpPr>
        <p:spPr>
          <a:xfrm>
            <a:off x="320040" y="2148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1"/>
          <p:cNvSpPr/>
          <p:nvPr/>
        </p:nvSpPr>
        <p:spPr>
          <a:xfrm>
            <a:off x="960120" y="2057400"/>
            <a:ext cx="78634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1051560" y="210312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Programowanie ESP32 (Arduino IDE)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3"/>
          <p:cNvSpPr/>
          <p:nvPr/>
        </p:nvSpPr>
        <p:spPr>
          <a:xfrm>
            <a:off x="6217920" y="2103120"/>
            <a:ext cx="2468520" cy="2556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4"/>
          <p:cNvSpPr/>
          <p:nvPr/>
        </p:nvSpPr>
        <p:spPr>
          <a:xfrm>
            <a:off x="6263640" y="212148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Flash → ESP32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5"/>
          <p:cNvSpPr/>
          <p:nvPr/>
        </p:nvSpPr>
        <p:spPr>
          <a:xfrm>
            <a:off x="1051560" y="2423160"/>
            <a:ext cx="7680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Wgraj kod z pliku .ino do mikrokontrolera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6"/>
          <p:cNvSpPr/>
          <p:nvPr/>
        </p:nvSpPr>
        <p:spPr>
          <a:xfrm>
            <a:off x="320040" y="310896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320040" y="31089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8"/>
          <p:cNvSpPr/>
          <p:nvPr/>
        </p:nvSpPr>
        <p:spPr>
          <a:xfrm>
            <a:off x="960120" y="3017520"/>
            <a:ext cx="7863480" cy="82260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9"/>
          <p:cNvSpPr/>
          <p:nvPr/>
        </p:nvSpPr>
        <p:spPr>
          <a:xfrm>
            <a:off x="1051560" y="30632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Instalacja aplikacji mobilnej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0"/>
          <p:cNvSpPr/>
          <p:nvPr/>
        </p:nvSpPr>
        <p:spPr>
          <a:xfrm>
            <a:off x="6217920" y="3063240"/>
            <a:ext cx="2468520" cy="2556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6263640" y="308160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Pobierz instalator APK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2"/>
          <p:cNvSpPr/>
          <p:nvPr/>
        </p:nvSpPr>
        <p:spPr>
          <a:xfrm>
            <a:off x="1051560" y="3383280"/>
            <a:ext cx="7680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Zainstaluj APK na telefonie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3"/>
          <p:cNvSpPr/>
          <p:nvPr/>
        </p:nvSpPr>
        <p:spPr>
          <a:xfrm>
            <a:off x="320040" y="4069080"/>
            <a:ext cx="502560" cy="5025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4"/>
          <p:cNvSpPr/>
          <p:nvPr/>
        </p:nvSpPr>
        <p:spPr>
          <a:xfrm>
            <a:off x="320040" y="4069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5"/>
          <p:cNvSpPr/>
          <p:nvPr/>
        </p:nvSpPr>
        <p:spPr>
          <a:xfrm>
            <a:off x="960120" y="3977640"/>
            <a:ext cx="7863480" cy="82260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6"/>
          <p:cNvSpPr/>
          <p:nvPr/>
        </p:nvSpPr>
        <p:spPr>
          <a:xfrm>
            <a:off x="1051560" y="4023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Uruchomienie interfejsu webowego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7"/>
          <p:cNvSpPr/>
          <p:nvPr/>
        </p:nvSpPr>
        <p:spPr>
          <a:xfrm>
            <a:off x="6217920" y="4023360"/>
            <a:ext cx="2468520" cy="2556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8"/>
          <p:cNvSpPr/>
          <p:nvPr/>
        </p:nvSpPr>
        <p:spPr>
          <a:xfrm>
            <a:off x="6263640" y="4041720"/>
            <a:ext cx="237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8D8A8"/>
                </a:solidFill>
                <a:effectLst/>
                <a:uFillTx/>
                <a:latin typeface="Courier New"/>
                <a:ea typeface="Courier New"/>
              </a:rPr>
              <a:t>localhost:8080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9"/>
          <p:cNvSpPr/>
          <p:nvPr/>
        </p:nvSpPr>
        <p:spPr>
          <a:xfrm>
            <a:off x="1051560" y="4343400"/>
            <a:ext cx="7680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Przejdź do adresu  </a:t>
            </a: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  <a:hlinkClick r:id="rId1"/>
              </a:rPr>
              <a:t>http://localhost:8080/</a:t>
            </a:r>
            <a:r>
              <a:rPr lang="en-US" sz="10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 w przeglądarce na komputerze połączonym z siecią WI-FI ESP32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457200" y="201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TESTY I WERYFIKACJA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"/>
          <p:cNvSpPr/>
          <p:nvPr/>
        </p:nvSpPr>
        <p:spPr>
          <a:xfrm>
            <a:off x="320040" y="1097280"/>
            <a:ext cx="191988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"/>
          <p:cNvSpPr/>
          <p:nvPr/>
        </p:nvSpPr>
        <p:spPr>
          <a:xfrm>
            <a:off x="320040" y="1097280"/>
            <a:ext cx="1919880" cy="72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"/>
          <p:cNvSpPr/>
          <p:nvPr/>
        </p:nvSpPr>
        <p:spPr>
          <a:xfrm>
            <a:off x="365760" y="12344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~50 ms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5"/>
          <p:cNvSpPr/>
          <p:nvPr/>
        </p:nvSpPr>
        <p:spPr>
          <a:xfrm>
            <a:off x="365760" y="18745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Czas odpowiedzi API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365760" y="22312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cel: &lt; 300 ms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7"/>
          <p:cNvSpPr/>
          <p:nvPr/>
        </p:nvSpPr>
        <p:spPr>
          <a:xfrm>
            <a:off x="2468880" y="1097280"/>
            <a:ext cx="191988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8"/>
          <p:cNvSpPr/>
          <p:nvPr/>
        </p:nvSpPr>
        <p:spPr>
          <a:xfrm>
            <a:off x="2468880" y="1097280"/>
            <a:ext cx="1919880" cy="72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9"/>
          <p:cNvSpPr/>
          <p:nvPr/>
        </p:nvSpPr>
        <p:spPr>
          <a:xfrm>
            <a:off x="2514600" y="12344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100%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0"/>
          <p:cNvSpPr/>
          <p:nvPr/>
        </p:nvSpPr>
        <p:spPr>
          <a:xfrm>
            <a:off x="2514600" y="18745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Testy funkcjonalne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2514600" y="22312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cel: wszystkie scenariusze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2"/>
          <p:cNvSpPr/>
          <p:nvPr/>
        </p:nvSpPr>
        <p:spPr>
          <a:xfrm>
            <a:off x="4617720" y="1097280"/>
            <a:ext cx="191988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3"/>
          <p:cNvSpPr/>
          <p:nvPr/>
        </p:nvSpPr>
        <p:spPr>
          <a:xfrm>
            <a:off x="4617720" y="1097280"/>
            <a:ext cx="1919880" cy="72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4"/>
          <p:cNvSpPr/>
          <p:nvPr/>
        </p:nvSpPr>
        <p:spPr>
          <a:xfrm>
            <a:off x="4663440" y="12344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10 s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5"/>
          <p:cNvSpPr/>
          <p:nvPr/>
        </p:nvSpPr>
        <p:spPr>
          <a:xfrm>
            <a:off x="4663440" y="18745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Auto-odświeżanie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6"/>
          <p:cNvSpPr/>
          <p:nvPr/>
        </p:nvSpPr>
        <p:spPr>
          <a:xfrm>
            <a:off x="4663440" y="22312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cel: stabilne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7"/>
          <p:cNvSpPr/>
          <p:nvPr/>
        </p:nvSpPr>
        <p:spPr>
          <a:xfrm>
            <a:off x="6766560" y="1097280"/>
            <a:ext cx="191988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8"/>
          <p:cNvSpPr/>
          <p:nvPr/>
        </p:nvSpPr>
        <p:spPr>
          <a:xfrm>
            <a:off x="6766560" y="1097280"/>
            <a:ext cx="1919880" cy="72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9"/>
          <p:cNvSpPr/>
          <p:nvPr/>
        </p:nvSpPr>
        <p:spPr>
          <a:xfrm>
            <a:off x="6812280" y="12344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0"/>
          <p:cNvSpPr/>
          <p:nvPr/>
        </p:nvSpPr>
        <p:spPr>
          <a:xfrm>
            <a:off x="6812280" y="18745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Responsywność WWW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1"/>
          <p:cNvSpPr/>
          <p:nvPr/>
        </p:nvSpPr>
        <p:spPr>
          <a:xfrm>
            <a:off x="6812280" y="22312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cel: różne rozdzielczości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2"/>
          <p:cNvSpPr/>
          <p:nvPr/>
        </p:nvSpPr>
        <p:spPr>
          <a:xfrm>
            <a:off x="365760" y="269748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Wyniki testów funkcjonalnych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3"/>
          <p:cNvSpPr/>
          <p:nvPr/>
        </p:nvSpPr>
        <p:spPr>
          <a:xfrm>
            <a:off x="365760" y="3090600"/>
            <a:ext cx="4205880" cy="34704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4"/>
          <p:cNvSpPr/>
          <p:nvPr/>
        </p:nvSpPr>
        <p:spPr>
          <a:xfrm>
            <a:off x="438840" y="3173040"/>
            <a:ext cx="182520" cy="182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5"/>
          <p:cNvSpPr/>
          <p:nvPr/>
        </p:nvSpPr>
        <p:spPr>
          <a:xfrm>
            <a:off x="438840" y="315468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6"/>
          <p:cNvSpPr/>
          <p:nvPr/>
        </p:nvSpPr>
        <p:spPr>
          <a:xfrm>
            <a:off x="713160" y="3163680"/>
            <a:ext cx="3794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Komunikacja ESP32 → Serwer działa bez zakłóceń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7"/>
          <p:cNvSpPr/>
          <p:nvPr/>
        </p:nvSpPr>
        <p:spPr>
          <a:xfrm>
            <a:off x="365760" y="3483720"/>
            <a:ext cx="4205880" cy="3470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8"/>
          <p:cNvSpPr/>
          <p:nvPr/>
        </p:nvSpPr>
        <p:spPr>
          <a:xfrm>
            <a:off x="438840" y="3566160"/>
            <a:ext cx="182520" cy="182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9"/>
          <p:cNvSpPr/>
          <p:nvPr/>
        </p:nvSpPr>
        <p:spPr>
          <a:xfrm>
            <a:off x="438840" y="354780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0"/>
          <p:cNvSpPr/>
          <p:nvPr/>
        </p:nvSpPr>
        <p:spPr>
          <a:xfrm>
            <a:off x="713160" y="3557160"/>
            <a:ext cx="3794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Dane zapisywane poprawnie w bazie MySQL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1"/>
          <p:cNvSpPr/>
          <p:nvPr/>
        </p:nvSpPr>
        <p:spPr>
          <a:xfrm>
            <a:off x="365760" y="3877200"/>
            <a:ext cx="4205880" cy="34704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32"/>
          <p:cNvSpPr/>
          <p:nvPr/>
        </p:nvSpPr>
        <p:spPr>
          <a:xfrm>
            <a:off x="438840" y="3959280"/>
            <a:ext cx="182520" cy="182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3"/>
          <p:cNvSpPr/>
          <p:nvPr/>
        </p:nvSpPr>
        <p:spPr>
          <a:xfrm>
            <a:off x="438840" y="394092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4"/>
          <p:cNvSpPr/>
          <p:nvPr/>
        </p:nvSpPr>
        <p:spPr>
          <a:xfrm>
            <a:off x="713160" y="3950280"/>
            <a:ext cx="3794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Aplikacja webowa wyświetla dane w kolejności chronologicznej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5"/>
          <p:cNvSpPr/>
          <p:nvPr/>
        </p:nvSpPr>
        <p:spPr>
          <a:xfrm>
            <a:off x="365760" y="4270320"/>
            <a:ext cx="4205880" cy="34704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6"/>
          <p:cNvSpPr/>
          <p:nvPr/>
        </p:nvSpPr>
        <p:spPr>
          <a:xfrm>
            <a:off x="438840" y="4352400"/>
            <a:ext cx="182520" cy="182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7"/>
          <p:cNvSpPr/>
          <p:nvPr/>
        </p:nvSpPr>
        <p:spPr>
          <a:xfrm>
            <a:off x="438840" y="433440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8"/>
          <p:cNvSpPr/>
          <p:nvPr/>
        </p:nvSpPr>
        <p:spPr>
          <a:xfrm>
            <a:off x="713160" y="4343400"/>
            <a:ext cx="3794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Aplikacja mobilna wyświetla aktualny i historyczny odczyt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9"/>
          <p:cNvSpPr/>
          <p:nvPr/>
        </p:nvSpPr>
        <p:spPr>
          <a:xfrm>
            <a:off x="365760" y="4663440"/>
            <a:ext cx="4205880" cy="34704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40"/>
          <p:cNvSpPr/>
          <p:nvPr/>
        </p:nvSpPr>
        <p:spPr>
          <a:xfrm>
            <a:off x="438840" y="4745880"/>
            <a:ext cx="182520" cy="182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1"/>
          <p:cNvSpPr/>
          <p:nvPr/>
        </p:nvSpPr>
        <p:spPr>
          <a:xfrm>
            <a:off x="438840" y="472752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2"/>
          <p:cNvSpPr/>
          <p:nvPr/>
        </p:nvSpPr>
        <p:spPr>
          <a:xfrm>
            <a:off x="713160" y="4736520"/>
            <a:ext cx="3794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A2B3C"/>
                </a:solidFill>
                <a:effectLst/>
                <a:uFillTx/>
                <a:latin typeface="Calibri"/>
                <a:ea typeface="Calibri"/>
              </a:rPr>
              <a:t>Komunikat o błędzie przy braku połączenia z serwerem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3"/>
          <p:cNvSpPr/>
          <p:nvPr/>
        </p:nvSpPr>
        <p:spPr>
          <a:xfrm>
            <a:off x="4846320" y="26974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Wyniki testów niefunkcjonalnych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44"/>
          <p:cNvSpPr/>
          <p:nvPr/>
        </p:nvSpPr>
        <p:spPr>
          <a:xfrm>
            <a:off x="4846320" y="3090600"/>
            <a:ext cx="3931560" cy="42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45"/>
          <p:cNvSpPr/>
          <p:nvPr/>
        </p:nvSpPr>
        <p:spPr>
          <a:xfrm>
            <a:off x="4937760" y="312732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Wydajność API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6"/>
          <p:cNvSpPr/>
          <p:nvPr/>
        </p:nvSpPr>
        <p:spPr>
          <a:xfrm>
            <a:off x="4937760" y="331020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~50 ms (6× szybciej niż limit)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47"/>
          <p:cNvSpPr/>
          <p:nvPr/>
        </p:nvSpPr>
        <p:spPr>
          <a:xfrm>
            <a:off x="8321040" y="3182040"/>
            <a:ext cx="365400" cy="228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48"/>
          <p:cNvSpPr/>
          <p:nvPr/>
        </p:nvSpPr>
        <p:spPr>
          <a:xfrm>
            <a:off x="8321040" y="318204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49"/>
          <p:cNvSpPr/>
          <p:nvPr/>
        </p:nvSpPr>
        <p:spPr>
          <a:xfrm>
            <a:off x="4846320" y="3575160"/>
            <a:ext cx="3931560" cy="42012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0"/>
          <p:cNvSpPr/>
          <p:nvPr/>
        </p:nvSpPr>
        <p:spPr>
          <a:xfrm>
            <a:off x="4937760" y="361188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Stabilność odświeżania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51"/>
          <p:cNvSpPr/>
          <p:nvPr/>
        </p:nvSpPr>
        <p:spPr>
          <a:xfrm>
            <a:off x="4937760" y="379476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Cykliczne co 10 s – brak błędów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52"/>
          <p:cNvSpPr/>
          <p:nvPr/>
        </p:nvSpPr>
        <p:spPr>
          <a:xfrm>
            <a:off x="8321040" y="3666600"/>
            <a:ext cx="365400" cy="228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3"/>
          <p:cNvSpPr/>
          <p:nvPr/>
        </p:nvSpPr>
        <p:spPr>
          <a:xfrm>
            <a:off x="8321040" y="366660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54"/>
          <p:cNvSpPr/>
          <p:nvPr/>
        </p:nvSpPr>
        <p:spPr>
          <a:xfrm>
            <a:off x="4846320" y="4060080"/>
            <a:ext cx="3931560" cy="42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5"/>
          <p:cNvSpPr/>
          <p:nvPr/>
        </p:nvSpPr>
        <p:spPr>
          <a:xfrm>
            <a:off x="4937760" y="409644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Responsywność webowa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56"/>
          <p:cNvSpPr/>
          <p:nvPr/>
        </p:nvSpPr>
        <p:spPr>
          <a:xfrm>
            <a:off x="4937760" y="427932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Poprawna na różnych rozdzielczościach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57"/>
          <p:cNvSpPr/>
          <p:nvPr/>
        </p:nvSpPr>
        <p:spPr>
          <a:xfrm>
            <a:off x="8321040" y="4151520"/>
            <a:ext cx="365400" cy="228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8"/>
          <p:cNvSpPr/>
          <p:nvPr/>
        </p:nvSpPr>
        <p:spPr>
          <a:xfrm>
            <a:off x="8321040" y="41515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59"/>
          <p:cNvSpPr/>
          <p:nvPr/>
        </p:nvSpPr>
        <p:spPr>
          <a:xfrm>
            <a:off x="4846320" y="4544640"/>
            <a:ext cx="3931560" cy="420120"/>
          </a:xfrm>
          <a:prstGeom prst="rect">
            <a:avLst/>
          </a:prstGeom>
          <a:solidFill>
            <a:srgbClr val="E8F4F8"/>
          </a:solidFill>
          <a:ln w="6350">
            <a:solidFill>
              <a:srgbClr val="BCD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60"/>
          <p:cNvSpPr/>
          <p:nvPr/>
        </p:nvSpPr>
        <p:spPr>
          <a:xfrm>
            <a:off x="4937760" y="458100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Informacja o błędzie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1"/>
          <p:cNvSpPr/>
          <p:nvPr/>
        </p:nvSpPr>
        <p:spPr>
          <a:xfrm>
            <a:off x="4937760" y="476388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274"/>
                </a:solidFill>
                <a:effectLst/>
                <a:uFillTx/>
                <a:latin typeface="Calibri"/>
                <a:ea typeface="Calibri"/>
              </a:rPr>
              <a:t>Wyświetlana przy utracie połączenia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62"/>
          <p:cNvSpPr/>
          <p:nvPr/>
        </p:nvSpPr>
        <p:spPr>
          <a:xfrm>
            <a:off x="8321040" y="4636080"/>
            <a:ext cx="365400" cy="228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63"/>
          <p:cNvSpPr/>
          <p:nvPr/>
        </p:nvSpPr>
        <p:spPr>
          <a:xfrm>
            <a:off x="8321040" y="46360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OK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8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9"/>
          <p:cNvSpPr/>
          <p:nvPr/>
        </p:nvSpPr>
        <p:spPr>
          <a:xfrm>
            <a:off x="411480" y="18288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Zespół i Podział Prac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2"/>
          <p:cNvSpPr/>
          <p:nvPr/>
        </p:nvSpPr>
        <p:spPr>
          <a:xfrm>
            <a:off x="320040" y="1033200"/>
            <a:ext cx="2697120" cy="388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5"/>
          <p:cNvSpPr/>
          <p:nvPr/>
        </p:nvSpPr>
        <p:spPr>
          <a:xfrm>
            <a:off x="320040" y="1033200"/>
            <a:ext cx="2697120" cy="511560"/>
          </a:xfrm>
          <a:prstGeom prst="rect">
            <a:avLst/>
          </a:prstGeom>
          <a:solidFill>
            <a:srgbClr val="1B6B45"/>
          </a:solidFill>
          <a:ln w="12700">
            <a:solidFill>
              <a:srgbClr val="1B6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2"/>
          <p:cNvSpPr/>
          <p:nvPr/>
        </p:nvSpPr>
        <p:spPr>
          <a:xfrm>
            <a:off x="411480" y="106992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Franciszek Dębski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4"/>
          <p:cNvSpPr/>
          <p:nvPr/>
        </p:nvSpPr>
        <p:spPr>
          <a:xfrm>
            <a:off x="411480" y="1344240"/>
            <a:ext cx="2514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5EFF9"/>
                </a:solidFill>
                <a:effectLst/>
                <a:uFillTx/>
                <a:latin typeface="Calibri"/>
                <a:ea typeface="Calibri"/>
              </a:rPr>
              <a:t>Programista IoT · Projektant PCB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7"/>
          <p:cNvSpPr/>
          <p:nvPr/>
        </p:nvSpPr>
        <p:spPr>
          <a:xfrm>
            <a:off x="429840" y="1664280"/>
            <a:ext cx="2468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Zadania: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48"/>
          <p:cNvSpPr/>
          <p:nvPr/>
        </p:nvSpPr>
        <p:spPr>
          <a:xfrm>
            <a:off x="448200" y="2048400"/>
            <a:ext cx="200880" cy="20088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59"/>
          <p:cNvSpPr/>
          <p:nvPr/>
        </p:nvSpPr>
        <p:spPr>
          <a:xfrm>
            <a:off x="722520" y="20300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Programowanie ESP32 w C++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50"/>
          <p:cNvSpPr/>
          <p:nvPr/>
        </p:nvSpPr>
        <p:spPr>
          <a:xfrm>
            <a:off x="448200" y="2578680"/>
            <a:ext cx="200880" cy="20088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62"/>
          <p:cNvSpPr/>
          <p:nvPr/>
        </p:nvSpPr>
        <p:spPr>
          <a:xfrm>
            <a:off x="722520" y="25603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Schemat + wizualizacja 3D PCB (EasyEDA)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51"/>
          <p:cNvSpPr/>
          <p:nvPr/>
        </p:nvSpPr>
        <p:spPr>
          <a:xfrm>
            <a:off x="448200" y="3108960"/>
            <a:ext cx="200880" cy="200880"/>
          </a:xfrm>
          <a:prstGeom prst="ellipse">
            <a:avLst/>
          </a:prstGeom>
          <a:solidFill>
            <a:srgbClr val="1B6B45"/>
          </a:solidFill>
          <a:ln w="12700">
            <a:solidFill>
              <a:srgbClr val="1B6B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64"/>
          <p:cNvSpPr/>
          <p:nvPr/>
        </p:nvSpPr>
        <p:spPr>
          <a:xfrm>
            <a:off x="722520" y="30906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Diagram UML architektury systemu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55"/>
          <p:cNvSpPr/>
          <p:nvPr/>
        </p:nvSpPr>
        <p:spPr>
          <a:xfrm>
            <a:off x="3246120" y="1033200"/>
            <a:ext cx="2697120" cy="388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56"/>
          <p:cNvSpPr/>
          <p:nvPr/>
        </p:nvSpPr>
        <p:spPr>
          <a:xfrm>
            <a:off x="3246120" y="1033200"/>
            <a:ext cx="2697120" cy="51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66"/>
          <p:cNvSpPr/>
          <p:nvPr/>
        </p:nvSpPr>
        <p:spPr>
          <a:xfrm>
            <a:off x="3337560" y="106992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Patryk Wilk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67"/>
          <p:cNvSpPr/>
          <p:nvPr/>
        </p:nvSpPr>
        <p:spPr>
          <a:xfrm>
            <a:off x="3337560" y="1344240"/>
            <a:ext cx="2514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5EFF9"/>
                </a:solidFill>
                <a:effectLst/>
                <a:uFillTx/>
                <a:latin typeface="Calibri"/>
                <a:ea typeface="Calibri"/>
              </a:rPr>
              <a:t>Główny Programista · Backend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68"/>
          <p:cNvSpPr/>
          <p:nvPr/>
        </p:nvSpPr>
        <p:spPr>
          <a:xfrm>
            <a:off x="3355920" y="1664280"/>
            <a:ext cx="2468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Zadania: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58"/>
          <p:cNvSpPr/>
          <p:nvPr/>
        </p:nvSpPr>
        <p:spPr>
          <a:xfrm>
            <a:off x="3374280" y="2048400"/>
            <a:ext cx="200880" cy="2008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69"/>
          <p:cNvSpPr/>
          <p:nvPr/>
        </p:nvSpPr>
        <p:spPr>
          <a:xfrm>
            <a:off x="3648600" y="20300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Serwer Spring Boot + REST API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60"/>
          <p:cNvSpPr/>
          <p:nvPr/>
        </p:nvSpPr>
        <p:spPr>
          <a:xfrm>
            <a:off x="3374280" y="2578680"/>
            <a:ext cx="200880" cy="2008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70"/>
          <p:cNvSpPr/>
          <p:nvPr/>
        </p:nvSpPr>
        <p:spPr>
          <a:xfrm>
            <a:off x="3648600" y="25603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Konfiguracja MySQL w Dockerze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61"/>
          <p:cNvSpPr/>
          <p:nvPr/>
        </p:nvSpPr>
        <p:spPr>
          <a:xfrm>
            <a:off x="3374280" y="3108960"/>
            <a:ext cx="200880" cy="2008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71"/>
          <p:cNvSpPr/>
          <p:nvPr/>
        </p:nvSpPr>
        <p:spPr>
          <a:xfrm>
            <a:off x="3648600" y="30906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Strona internetowa + GanttProject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4"/>
          <p:cNvSpPr/>
          <p:nvPr/>
        </p:nvSpPr>
        <p:spPr>
          <a:xfrm>
            <a:off x="6172200" y="1033200"/>
            <a:ext cx="2697120" cy="388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65"/>
          <p:cNvSpPr/>
          <p:nvPr/>
        </p:nvSpPr>
        <p:spPr>
          <a:xfrm>
            <a:off x="6172200" y="1033200"/>
            <a:ext cx="2697120" cy="51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73"/>
          <p:cNvSpPr/>
          <p:nvPr/>
        </p:nvSpPr>
        <p:spPr>
          <a:xfrm>
            <a:off x="6263640" y="106992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Krystian Zając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74"/>
          <p:cNvSpPr/>
          <p:nvPr/>
        </p:nvSpPr>
        <p:spPr>
          <a:xfrm>
            <a:off x="6263640" y="1344240"/>
            <a:ext cx="2514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D5EFF9"/>
                </a:solidFill>
                <a:effectLst/>
                <a:uFillTx/>
                <a:latin typeface="Calibri"/>
                <a:ea typeface="Calibri"/>
              </a:rPr>
              <a:t>Programista mobilny · Menedżer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5"/>
          <p:cNvSpPr/>
          <p:nvPr/>
        </p:nvSpPr>
        <p:spPr>
          <a:xfrm>
            <a:off x="6282000" y="1664280"/>
            <a:ext cx="2468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Trebuchet MS"/>
                <a:ea typeface="Trebuchet MS"/>
              </a:rPr>
              <a:t>Zadania: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66"/>
          <p:cNvSpPr/>
          <p:nvPr/>
        </p:nvSpPr>
        <p:spPr>
          <a:xfrm>
            <a:off x="6300360" y="2048400"/>
            <a:ext cx="200880" cy="200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76"/>
          <p:cNvSpPr/>
          <p:nvPr/>
        </p:nvSpPr>
        <p:spPr>
          <a:xfrm>
            <a:off x="6574680" y="20300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Natywna aplikacja Android (Java)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67"/>
          <p:cNvSpPr/>
          <p:nvPr/>
        </p:nvSpPr>
        <p:spPr>
          <a:xfrm>
            <a:off x="6300360" y="2578680"/>
            <a:ext cx="200880" cy="200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77"/>
          <p:cNvSpPr/>
          <p:nvPr/>
        </p:nvSpPr>
        <p:spPr>
          <a:xfrm>
            <a:off x="6574680" y="256032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Dokumentacja techniczna w LaTeX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68"/>
          <p:cNvSpPr/>
          <p:nvPr/>
        </p:nvSpPr>
        <p:spPr>
          <a:xfrm>
            <a:off x="6300360" y="3108960"/>
            <a:ext cx="200880" cy="200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78"/>
          <p:cNvSpPr/>
          <p:nvPr/>
        </p:nvSpPr>
        <p:spPr>
          <a:xfrm>
            <a:off x="6574680" y="30906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Plik README + prezentacja końcowa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70"/>
          <p:cNvSpPr/>
          <p:nvPr/>
        </p:nvSpPr>
        <p:spPr>
          <a:xfrm>
            <a:off x="320040" y="4645080"/>
            <a:ext cx="8539560" cy="2739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80"/>
          <p:cNvSpPr/>
          <p:nvPr/>
        </p:nvSpPr>
        <p:spPr>
          <a:xfrm>
            <a:off x="411480" y="4681800"/>
            <a:ext cx="8320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Realizacja projektu: 03.03.2026 – 09.06.2026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45720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PODSUMOWANIE</a:t>
            </a:r>
            <a:endParaRPr lang="pl-PL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"/>
          <p:cNvSpPr/>
          <p:nvPr/>
        </p:nvSpPr>
        <p:spPr>
          <a:xfrm>
            <a:off x="274320" y="960120"/>
            <a:ext cx="4205880" cy="2468520"/>
          </a:xfrm>
          <a:prstGeom prst="rect">
            <a:avLst/>
          </a:prstGeom>
          <a:solidFill>
            <a:srgbClr val="21295C">
              <a:alpha val="8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3"/>
          <p:cNvSpPr/>
          <p:nvPr/>
        </p:nvSpPr>
        <p:spPr>
          <a:xfrm>
            <a:off x="411480" y="10242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BC8F5"/>
                </a:solidFill>
                <a:effectLst/>
                <a:uFillTx/>
                <a:latin typeface="Calibri"/>
                <a:ea typeface="Calibri"/>
              </a:rPr>
              <a:t>✅  Co osiągnęliśmy</a:t>
            </a:r>
            <a:endParaRPr lang="pl-PL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4"/>
          <p:cNvSpPr/>
          <p:nvPr/>
        </p:nvSpPr>
        <p:spPr>
          <a:xfrm>
            <a:off x="457200" y="14446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Kompletny system end-to-end (IoT → Serwer → DB → UI)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5"/>
          <p:cNvSpPr/>
          <p:nvPr/>
        </p:nvSpPr>
        <p:spPr>
          <a:xfrm>
            <a:off x="457200" y="17557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REST API z czasem odpowiedzi ~50 ms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6"/>
          <p:cNvSpPr/>
          <p:nvPr/>
        </p:nvSpPr>
        <p:spPr>
          <a:xfrm>
            <a:off x="457200" y="20664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Aplikacja Android z auto-odświeżaniem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7"/>
          <p:cNvSpPr/>
          <p:nvPr/>
        </p:nvSpPr>
        <p:spPr>
          <a:xfrm>
            <a:off x="457200" y="23774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Interfejs webowy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8"/>
          <p:cNvSpPr/>
          <p:nvPr/>
        </p:nvSpPr>
        <p:spPr>
          <a:xfrm>
            <a:off x="457200" y="26884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Konteneryzacja MySQL (Docker)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9"/>
          <p:cNvSpPr/>
          <p:nvPr/>
        </p:nvSpPr>
        <p:spPr>
          <a:xfrm>
            <a:off x="457200" y="29991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Dokumentacja techniczna w LaTeX + schemat PCB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0"/>
          <p:cNvSpPr/>
          <p:nvPr/>
        </p:nvSpPr>
        <p:spPr>
          <a:xfrm>
            <a:off x="4663440" y="960120"/>
            <a:ext cx="4205880" cy="2468520"/>
          </a:xfrm>
          <a:prstGeom prst="rect">
            <a:avLst/>
          </a:prstGeom>
          <a:solidFill>
            <a:srgbClr val="21295C">
              <a:alpha val="8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1"/>
          <p:cNvSpPr/>
          <p:nvPr/>
        </p:nvSpPr>
        <p:spPr>
          <a:xfrm>
            <a:off x="4800600" y="10242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BC8F5"/>
                </a:solidFill>
                <a:effectLst/>
                <a:uFillTx/>
                <a:latin typeface="Calibri"/>
                <a:ea typeface="Calibri"/>
              </a:rPr>
              <a:t>🚀  Kierunki rozwoju</a:t>
            </a:r>
            <a:endParaRPr lang="pl-PL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2"/>
          <p:cNvSpPr/>
          <p:nvPr/>
        </p:nvSpPr>
        <p:spPr>
          <a:xfrm>
            <a:off x="4800600" y="14446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System powiadomień alarmowych (SMS/Push) przy przekroczeniu progów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3"/>
          <p:cNvSpPr/>
          <p:nvPr/>
        </p:nvSpPr>
        <p:spPr>
          <a:xfrm>
            <a:off x="4800600" y="17557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Pomiar wilgotności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4"/>
          <p:cNvSpPr/>
          <p:nvPr/>
        </p:nvSpPr>
        <p:spPr>
          <a:xfrm>
            <a:off x="4800600" y="20664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Przeniesienie serwera do chmury (AWS / Azure)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5"/>
          <p:cNvSpPr/>
          <p:nvPr/>
        </p:nvSpPr>
        <p:spPr>
          <a:xfrm>
            <a:off x="4800600" y="23774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Globalny dostęp do danych z dowolnego miejsca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6"/>
          <p:cNvSpPr/>
          <p:nvPr/>
        </p:nvSpPr>
        <p:spPr>
          <a:xfrm>
            <a:off x="4800600" y="26884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Panel administracyjny z wykresami historycznymi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7"/>
          <p:cNvSpPr/>
          <p:nvPr/>
        </p:nvSpPr>
        <p:spPr>
          <a:xfrm>
            <a:off x="4800600" y="29991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CEEE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CCEEEE"/>
                </a:solidFill>
                <a:effectLst/>
                <a:uFillTx/>
                <a:latin typeface="Calibri"/>
                <a:ea typeface="Calibri"/>
              </a:rPr>
              <a:t>Ekspansja na systemy inteligentnego domu (Smart Home)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8"/>
          <p:cNvSpPr/>
          <p:nvPr/>
        </p:nvSpPr>
        <p:spPr>
          <a:xfrm>
            <a:off x="274320" y="3611880"/>
            <a:ext cx="8595000" cy="86832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9"/>
          <p:cNvSpPr/>
          <p:nvPr/>
        </p:nvSpPr>
        <p:spPr>
          <a:xfrm>
            <a:off x="457200" y="3675960"/>
            <a:ext cx="8229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Projekt potwierdził skuteczność integracji IoT, backendu i interfejsów klienckich w jednej, stabilnej architekturze mikroserwisowej – gotowej do dalszej rozbudowy.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0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1"/>
          <p:cNvSpPr/>
          <p:nvPr/>
        </p:nvSpPr>
        <p:spPr>
          <a:xfrm>
            <a:off x="274320" y="495612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Franciszek Dębski · Patryk Wilk · Krystian Zając  |  MUP Oświęcim  |  2026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DZIĘKUJEMY ZA UWAGĘ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"/>
          <p:cNvSpPr/>
          <p:nvPr/>
        </p:nvSpPr>
        <p:spPr>
          <a:xfrm>
            <a:off x="1800000" y="2879640"/>
            <a:ext cx="5486400" cy="360"/>
          </a:xfrm>
          <a:prstGeom prst="line">
            <a:avLst/>
          </a:prstGeom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822960" y="329184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C8F5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l-PL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5"/>
          <p:cNvSpPr/>
          <p:nvPr/>
        </p:nvSpPr>
        <p:spPr>
          <a:xfrm>
            <a:off x="822960" y="393192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warstw</a:t>
            </a:r>
            <a:endParaRPr lang="pl-PL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systemu</a:t>
            </a:r>
            <a:endParaRPr lang="pl-PL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6"/>
          <p:cNvSpPr/>
          <p:nvPr/>
        </p:nvSpPr>
        <p:spPr>
          <a:xfrm>
            <a:off x="2834640" y="329184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C8F5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pl-PL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7"/>
          <p:cNvSpPr/>
          <p:nvPr/>
        </p:nvSpPr>
        <p:spPr>
          <a:xfrm>
            <a:off x="2834640" y="393192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wymagań</a:t>
            </a:r>
            <a:endParaRPr lang="pl-PL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funkcjonalnych</a:t>
            </a:r>
            <a:endParaRPr lang="pl-PL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8"/>
          <p:cNvSpPr/>
          <p:nvPr/>
        </p:nvSpPr>
        <p:spPr>
          <a:xfrm>
            <a:off x="4846320" y="329184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C8F5"/>
                </a:solidFill>
                <a:effectLst/>
                <a:uFillTx/>
                <a:latin typeface="Calibri"/>
                <a:ea typeface="Calibri"/>
              </a:rPr>
              <a:t>100%</a:t>
            </a:r>
            <a:endParaRPr lang="pl-PL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9"/>
          <p:cNvSpPr/>
          <p:nvPr/>
        </p:nvSpPr>
        <p:spPr>
          <a:xfrm>
            <a:off x="4846320" y="393192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testów</a:t>
            </a:r>
            <a:endParaRPr lang="pl-PL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zaliczonych</a:t>
            </a:r>
            <a:endParaRPr lang="pl-PL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0"/>
          <p:cNvSpPr/>
          <p:nvPr/>
        </p:nvSpPr>
        <p:spPr>
          <a:xfrm>
            <a:off x="6858000" y="329184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C8F5"/>
                </a:solidFill>
                <a:effectLst/>
                <a:uFillTx/>
                <a:latin typeface="Calibri"/>
                <a:ea typeface="Calibri"/>
              </a:rPr>
              <a:t>~50ms</a:t>
            </a:r>
            <a:endParaRPr lang="pl-PL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1"/>
          <p:cNvSpPr/>
          <p:nvPr/>
        </p:nvSpPr>
        <p:spPr>
          <a:xfrm>
            <a:off x="6858000" y="393192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czas odpowiedzi</a:t>
            </a:r>
            <a:endParaRPr lang="pl-PL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API</a:t>
            </a:r>
            <a:endParaRPr lang="pl-PL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2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3"/>
          <p:cNvSpPr/>
          <p:nvPr/>
        </p:nvSpPr>
        <p:spPr>
          <a:xfrm>
            <a:off x="274320" y="495612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Prowadzący: mgr inż. Artur Pelo  |  Informatyka, semestr VI  |  MUP Oświęcim 2026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2026-06-08T06:32:33Z</dcterms:created>
  <dc:creator>PptxGenJS</dc:creator>
  <dc:description/>
  <dc:language>pl-PL</dc:language>
  <cp:lastModifiedBy/>
  <dcterms:modified xsi:type="dcterms:W3CDTF">2026-06-08T23:39:01Z</dcterms:modified>
  <cp:revision>4</cp:revision>
  <dc:subject>PptxGenJS Presentation</dc:subject>
  <dc:title>System Monitorowania Temperatury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